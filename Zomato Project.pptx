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9144000"/>
  <p:notesSz cx="9144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FF33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-1330" y="-86"/>
      </p:cViewPr>
      <p:guideLst>
        <p:guide orient="horz" pos="288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hospitality.economictimes.indiatimes.com/news/operations/food-and-beverages/indias-food-delivery-sector-poised-for-double-digit-growth-as-tier-2-adoption-and-frequency-rise-report/130727177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hyperlink" Target="https://b.zmtcdn.com/investor-relations/Eternal_Annual_Report_2024-25.pdf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725912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in Tier-3 India:</a:t>
            </a:r>
            <a:endParaRPr lang="en-US" sz="5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it accelerate</a:t>
            </a:r>
            <a:endParaRPr lang="en-US" sz="5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expansion?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731520" y="4937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Anusha Prabhu | June 2026 | Strategy Consulting Project &amp; Research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8549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STRATEGY EXPANSION |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8549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Summary: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960120" y="3383280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E23744"/>
          </a:solidFill>
          <a:ln/>
        </p:spPr>
      </p:sp>
      <p:sp>
        <p:nvSpPr>
          <p:cNvPr id="6" name="Text 4"/>
          <p:cNvSpPr/>
          <p:nvPr/>
        </p:nvSpPr>
        <p:spPr>
          <a:xfrm>
            <a:off x="1783080" y="3200400"/>
            <a:ext cx="3108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02920" y="5486400"/>
            <a:ext cx="5394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12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Launch a phased Tier 3 expansion strategy focused on city clusters, affordability-led offerings, local restaurant onboarding, and strict city-level profitability gates before scaling further. This approach best balances long-term growth capture with margin protection.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00800" y="1143000"/>
            <a:ext cx="5120640" cy="6949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just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should accelerate expansion into Tier 3 cities, but through a selective cluster-based model rather than a broad national rollout.</a:t>
            </a:r>
            <a:endParaRPr lang="en-US" dirty="0"/>
          </a:p>
          <a:p>
            <a:pPr marL="228600" indent="-228600" algn="just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Eternal’s FY25 annual report says food delivery NOV grew 20% year over year to ₹32,862 crore, showing that the core business is already scaled and capable of funding disciplined geographic expansion.</a:t>
            </a:r>
            <a:endParaRPr lang="en-US" dirty="0"/>
          </a:p>
          <a:p>
            <a:pPr marL="228600" indent="-228600" algn="just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enters from a position of operational strength.</a:t>
            </a:r>
            <a:endParaRPr lang="en-US" dirty="0"/>
          </a:p>
          <a:p>
            <a:pPr marL="228600" indent="-228600" algn="just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order density, higher last-mile complexity, and customer price sensitivity in smaller cities mean expansion should focus first on high-potential clusters with strong restaurant supply and repeat-order potential.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31520" y="8549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STRATEGY EXPANSION |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8549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pic>
        <p:nvPicPr>
          <p:cNvPr id="12" name="Picture 11" descr="imag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783481"/>
            <a:ext cx="3635326" cy="28338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069848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Sizing overview: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94360" y="2167128"/>
            <a:ext cx="539496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just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Sizing the addressable tier 3 demand pool for Zomato:</a:t>
            </a:r>
            <a:endParaRPr lang="en-US" dirty="0"/>
          </a:p>
          <a:p>
            <a:pPr marL="228600" indent="-228600" algn="just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India’s online food delivery market remains in a high-growth phase, with future demand increasingly driven by Tier 2 and Tier 3 city penetration.</a:t>
            </a:r>
            <a:endParaRPr lang="en-US" dirty="0"/>
          </a:p>
          <a:p>
            <a:pPr marL="228600" indent="-228600" algn="just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Zomato’s food delivery business already operates at scale, with FY24 NOV of INR 32,862 crore and 753 million annual orders.</a:t>
            </a:r>
            <a:endParaRPr lang="en-US" dirty="0"/>
          </a:p>
          <a:p>
            <a:pPr marL="228600" indent="-228600" algn="just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Tier 3 opportunity should be sized as the serviceable and profitable share of smaller-city demand, not the total population base.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355080" y="2029968"/>
            <a:ext cx="5440680" cy="493776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37960" y="213969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highlights by business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607040" y="21671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INR crore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58200" y="2578608"/>
            <a:ext cx="1051560" cy="502920"/>
          </a:xfrm>
          <a:prstGeom prst="rect">
            <a:avLst/>
          </a:prstGeom>
          <a:solidFill>
            <a:srgbClr val="E4E7F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order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(NOV)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646920" y="2578608"/>
            <a:ext cx="1051560" cy="502920"/>
          </a:xfrm>
          <a:prstGeom prst="rect">
            <a:avLst/>
          </a:prstGeom>
          <a:solidFill>
            <a:srgbClr val="E4E7F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698480" y="2578608"/>
            <a:ext cx="1051560" cy="502920"/>
          </a:xfrm>
          <a:prstGeom prst="rect">
            <a:avLst/>
          </a:prstGeom>
          <a:solidFill>
            <a:srgbClr val="E4E7F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537960" y="296265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delivery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83680" y="3218688"/>
            <a:ext cx="685800" cy="685800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3419856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458200" y="3200400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32,862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58200" y="3493008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20% YoY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9646920" y="3200400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9,418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46920" y="3493008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21% YoY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0698480" y="3200400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698480" y="3493008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593 YoY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537960" y="392277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commerce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583680" y="4178808"/>
            <a:ext cx="685800" cy="685800"/>
          </a:xfrm>
          <a:prstGeom prst="ellipse">
            <a:avLst/>
          </a:prstGeom>
          <a:solidFill>
            <a:srgbClr val="F8CB16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379976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blinkit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458200" y="4160520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22,371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58200" y="4453128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113% YoY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646920" y="4160520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5,206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46920" y="4453128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126% YoY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0698480" y="4160520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-292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698480" y="4453128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92 YoY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537960" y="488289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Going-out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583680" y="5138928"/>
            <a:ext cx="685800" cy="685800"/>
          </a:xfrm>
          <a:prstGeom prst="ellipse">
            <a:avLst/>
          </a:prstGeom>
          <a:solidFill>
            <a:srgbClr val="5B2EC4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5340096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district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8458200" y="5120640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6,618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458200" y="5413248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156% YoY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9646920" y="5120640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737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646920" y="5413248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186% YoY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0698480" y="5120640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-38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698480" y="5413248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32 YoY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492240" y="6190488"/>
            <a:ext cx="5166360" cy="594360"/>
          </a:xfrm>
          <a:prstGeom prst="rect">
            <a:avLst/>
          </a:prstGeom>
          <a:solidFill>
            <a:srgbClr val="EEF0F5"/>
          </a:solidFill>
          <a:ln w="12700">
            <a:solidFill>
              <a:srgbClr val="AAB0C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623620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(B2C businesses)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458200" y="630936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61,852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646920" y="630936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15,361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698480" y="630936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1,175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22960" y="824788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STRATEGY EXPANSION | 2026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338560" y="82478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Assessing why Tier 3 cities can become the next growth frontier?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02920" y="2743200"/>
            <a:ext cx="5394960" cy="461772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8163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delivery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303580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5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metrics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274320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110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INR crore, unless otherwise mentioned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83280" y="3291840"/>
            <a:ext cx="79248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75760" y="3291840"/>
            <a:ext cx="79248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68240" y="3291840"/>
            <a:ext cx="79248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525012"/>
            <a:ext cx="274320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0" y="3525012"/>
            <a:ext cx="79248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26,305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75760" y="3525012"/>
            <a:ext cx="79248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32,224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68240" y="3525012"/>
            <a:ext cx="79248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38,646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758184"/>
            <a:ext cx="274320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3758184"/>
            <a:ext cx="79248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22,501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75760" y="3758184"/>
            <a:ext cx="79248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27,478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68240" y="3758184"/>
            <a:ext cx="79248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32,862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991356"/>
            <a:ext cx="274320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Adjusted Revenue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3991356"/>
            <a:ext cx="79248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6,147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75760" y="3991356"/>
            <a:ext cx="79248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7,792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68240" y="3991356"/>
            <a:ext cx="79248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9,418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224528"/>
            <a:ext cx="274320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3280" y="4224528"/>
            <a:ext cx="79248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1,196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75760" y="4224528"/>
            <a:ext cx="79248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2,225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68240" y="4224528"/>
            <a:ext cx="79248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3,092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4457700"/>
            <a:ext cx="274320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(as a % of NOV)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83280" y="4457700"/>
            <a:ext cx="79248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75760" y="4457700"/>
            <a:ext cx="79248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68240" y="4457700"/>
            <a:ext cx="79248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4690872"/>
            <a:ext cx="274320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Adjusted EBITDA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83280" y="4690872"/>
            <a:ext cx="79248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175760" y="4690872"/>
            <a:ext cx="79248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68240" y="4690872"/>
            <a:ext cx="79248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4924044"/>
            <a:ext cx="274320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Adjusted EBITDA (as a % of NOV)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83280" y="4924044"/>
            <a:ext cx="79248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-0.0%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175760" y="4924044"/>
            <a:ext cx="79248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68240" y="4924044"/>
            <a:ext cx="79248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4.6%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" y="520293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5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metrics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" y="5449824"/>
            <a:ext cx="310896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110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million, unless otherwise mentioned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749040" y="5449824"/>
            <a:ext cx="67056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FY23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419600" y="5449824"/>
            <a:ext cx="67056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FY24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90160" y="5449824"/>
            <a:ext cx="67056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FY25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0080" y="5682996"/>
            <a:ext cx="310896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749040" y="5682996"/>
            <a:ext cx="67056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647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419600" y="5682996"/>
            <a:ext cx="67056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753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090160" y="5682996"/>
            <a:ext cx="67056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853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40080" y="5916168"/>
            <a:ext cx="310896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order value (INR)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749040" y="5916168"/>
            <a:ext cx="67056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407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419600" y="5916168"/>
            <a:ext cx="67056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428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090160" y="5916168"/>
            <a:ext cx="67056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453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40080" y="6149340"/>
            <a:ext cx="310896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average order value (NAOV) (INR)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749040" y="6149340"/>
            <a:ext cx="67056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348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419600" y="6149340"/>
            <a:ext cx="67056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365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090160" y="6149340"/>
            <a:ext cx="67056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385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40080" y="6382512"/>
            <a:ext cx="310896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monthly transacting customers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749040" y="6382512"/>
            <a:ext cx="67056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17.0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419600" y="6382512"/>
            <a:ext cx="67056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18.4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090160" y="6382512"/>
            <a:ext cx="67056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20.6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40080" y="6615684"/>
            <a:ext cx="310896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monthly active food delivery restaurant partners ('000)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3749040" y="6615684"/>
            <a:ext cx="67056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210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419600" y="6615684"/>
            <a:ext cx="67056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247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5090160" y="6615684"/>
            <a:ext cx="67056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297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40080" y="6848856"/>
            <a:ext cx="310896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monthly active delivery partners ('000)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3749040" y="6848856"/>
            <a:ext cx="67056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326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4419600" y="6848856"/>
            <a:ext cx="67056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5090160" y="6848856"/>
            <a:ext cx="670560" cy="2331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473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355080" y="2743200"/>
            <a:ext cx="52120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just">
              <a:lnSpc>
                <a:spcPct val="112000"/>
              </a:lnSpc>
              <a:spcAft>
                <a:spcPts val="1800"/>
              </a:spcAft>
              <a:buSzPct val="100000"/>
              <a:buChar char="•"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Smaller cities are emerging as the next growth engine as digital adoption, smartphone usage, and internet access deepen beyond metros.</a:t>
            </a:r>
            <a:endParaRPr lang="en-US" dirty="0"/>
          </a:p>
          <a:p>
            <a:pPr marL="228600" indent="-228600" algn="just">
              <a:lnSpc>
                <a:spcPct val="112000"/>
              </a:lnSpc>
              <a:spcAft>
                <a:spcPts val="1800"/>
              </a:spcAft>
              <a:buSzPct val="100000"/>
              <a:buChar char="•"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Zomato’s customer base is still expanding, with average monthly transacting customers rising to 20.6 million in FY25, indicating headroom for further penetration</a:t>
            </a:r>
            <a:endParaRPr lang="en-US" dirty="0"/>
          </a:p>
          <a:p>
            <a:pPr marL="228600" indent="-228600" algn="just">
              <a:lnSpc>
                <a:spcPct val="112000"/>
              </a:lnSpc>
              <a:spcAft>
                <a:spcPts val="1800"/>
              </a:spcAft>
              <a:buSzPct val="100000"/>
              <a:buChar char="•"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should target Tier 3 city clusters where demand density, restaurant supply, and affordability can support viable unit economics.</a:t>
            </a: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731520" y="8549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STRATEGY EXPANSION | 2026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11247120" y="8549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409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Landscape:</a:t>
            </a:r>
            <a:endParaRPr lang="en-US" sz="3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579011935"/>
              </p:ext>
            </p:extLst>
          </p:nvPr>
        </p:nvGraphicFramePr>
        <p:xfrm>
          <a:off x="502920" y="2240280"/>
          <a:ext cx="11201400" cy="4892040"/>
        </p:xfrm>
        <a:graphic>
          <a:graphicData uri="http://schemas.openxmlformats.org/drawingml/2006/table">
            <a:tbl>
              <a:tblPr/>
              <a:tblGrid>
                <a:gridCol w="2194560"/>
                <a:gridCol w="2743200"/>
                <a:gridCol w="3108960"/>
                <a:gridCol w="3154680"/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C018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Player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C018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Positioning in Tier 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C018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Strengths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C018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Weaknesses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6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Swiggy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Value-led food delivery challenger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 logistics, aggressive pricing, early Tier 2/3 reach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subsidies, margin pressure, weaker monetization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DD2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ONDC Platforms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Open-network, price-transparent model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commissions, restaurant appeal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Poor UX consistency, low consumer loyalty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DD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Amazon / Flipkart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Latent ecosystem threat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Logistics scale, payments, high user base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focused food delivery proposition today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DD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Zomato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Scaled, ecosystem-led market leader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Network density, ads monetization, multi-vertical synergies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 3 unit economics during early ramp-up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DD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8549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STRATEGY EXPANSION | 2026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247120" y="8549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SWOT Analysis: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02920" y="19202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50292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urban brand recognition &amp; market leadership</a:t>
            </a:r>
            <a:endParaRPr lang="en-US" dirty="0"/>
          </a:p>
          <a:p>
            <a:pPr marL="203200" indent="-2032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technology &amp; data analytics infrastructure</a:t>
            </a:r>
            <a:endParaRPr lang="en-US" dirty="0"/>
          </a:p>
          <a:p>
            <a:pPr marL="203200" indent="-2032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business model with existing logistics expertise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800" y="19202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537960" y="2514600"/>
            <a:ext cx="50292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rural/Tier 3 reach currently</a:t>
            </a:r>
            <a:endParaRPr lang="en-US" dirty="0"/>
          </a:p>
          <a:p>
            <a:pPr marL="203200" indent="-2032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last-mile delivery costs in Tier 3</a:t>
            </a:r>
            <a:endParaRPr lang="en-US" dirty="0"/>
          </a:p>
          <a:p>
            <a:pPr marL="203200" indent="-2032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on discounts &amp; urban consumer behaviour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2920" y="50292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5623560"/>
            <a:ext cx="50292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Massive untapped customer base in Tier-3</a:t>
            </a:r>
            <a:endParaRPr lang="en-US" dirty="0"/>
          </a:p>
          <a:p>
            <a:pPr marL="203200" indent="-2032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Rising internet &amp; smartphone penetration</a:t>
            </a:r>
            <a:endParaRPr lang="en-US" dirty="0"/>
          </a:p>
          <a:p>
            <a:pPr marL="203200" indent="-2032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Localized offerings &amp; vernacular support potential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00800" y="50292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537960" y="5623560"/>
            <a:ext cx="50292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Aggressive competition from Swiggy &amp; local players</a:t>
            </a:r>
            <a:endParaRPr lang="en-US" dirty="0"/>
          </a:p>
          <a:p>
            <a:pPr marL="203200" indent="-2032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Underdeveloped logistics infrastructure</a:t>
            </a:r>
            <a:endParaRPr lang="en-US" dirty="0"/>
          </a:p>
          <a:p>
            <a:pPr marL="203200" indent="-2032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uncertainties &amp; rising compliance costs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31520" y="8549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STRATEGY EXPANSION |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47120" y="8549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PERFORMANCE:</a:t>
            </a:r>
            <a:endParaRPr lang="en-US" sz="2800" dirty="0"/>
          </a:p>
        </p:txBody>
      </p:sp>
      <p:pic>
        <p:nvPicPr>
          <p:cNvPr id="3" name="Image 0" descr="/home/claude/img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28800"/>
            <a:ext cx="2651760" cy="1783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1828800"/>
            <a:ext cx="2651760" cy="1783080"/>
          </a:xfrm>
          <a:prstGeom prst="roundRect">
            <a:avLst>
              <a:gd name="adj" fmla="val 9231"/>
            </a:avLst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37033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Standing: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02920" y="4526280"/>
            <a:ext cx="26517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is a top-two delivery platform in India, competing closely with Swiggy, FY24-25 trackers place Zomato’s food delivery GOV share at roughly 55-60% versus Swiggy’s 40-45% in many metros and categories.</a:t>
            </a:r>
            <a:endParaRPr lang="en-US" dirty="0"/>
          </a:p>
        </p:txBody>
      </p:sp>
      <p:pic>
        <p:nvPicPr>
          <p:cNvPr id="7" name="Image 1" descr="/home/claude/img_c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1828800"/>
            <a:ext cx="2651760" cy="17830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401568" y="1828800"/>
            <a:ext cx="2651760" cy="1783080"/>
          </a:xfrm>
          <a:prstGeom prst="roundRect">
            <a:avLst>
              <a:gd name="adj" fmla="val 9231"/>
            </a:avLst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401568" y="37033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Scale</a:t>
            </a: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3401568" y="4526280"/>
            <a:ext cx="26517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Zomato’s FY25 consolidated revenue exceeded INR 20,000 crore, with food delivery GOV being INR 38,000 crore. Zomato entered FY26 with positive adjusted EBITDA and strong cash reserves.</a:t>
            </a:r>
            <a:endParaRPr lang="en-US" dirty="0"/>
          </a:p>
        </p:txBody>
      </p:sp>
      <p:pic>
        <p:nvPicPr>
          <p:cNvPr id="11" name="Image 2" descr="/home/claude/img_wor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216" y="1828800"/>
            <a:ext cx="2651760" cy="178308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300216" y="1828800"/>
            <a:ext cx="2651760" cy="1783080"/>
          </a:xfrm>
          <a:prstGeom prst="roundRect">
            <a:avLst>
              <a:gd name="adj" fmla="val 9231"/>
            </a:avLst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300216" y="37033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 strengths</a:t>
            </a: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6300216" y="4526280"/>
            <a:ext cx="26517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leads in Tier-1 and affluent Tier-2 cities on premium baskets and higher frequency, while Swiggy holds pockets of strength in parts of the South and value-focused cohorts.</a:t>
            </a:r>
            <a:endParaRPr lang="en-US" dirty="0"/>
          </a:p>
        </p:txBody>
      </p:sp>
      <p:pic>
        <p:nvPicPr>
          <p:cNvPr id="15" name="Image 3" descr="/home/claude/img_circui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8864" y="1828800"/>
            <a:ext cx="2651760" cy="178308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9198864" y="1828800"/>
            <a:ext cx="2651760" cy="1783080"/>
          </a:xfrm>
          <a:prstGeom prst="roundRect">
            <a:avLst>
              <a:gd name="adj" fmla="val 9231"/>
            </a:avLst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9198864" y="37033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Adjacencies</a:t>
            </a:r>
            <a:endParaRPr lang="en-US" dirty="0"/>
          </a:p>
        </p:txBody>
      </p:sp>
      <p:sp>
        <p:nvSpPr>
          <p:cNvPr id="18" name="Text 12"/>
          <p:cNvSpPr/>
          <p:nvPr/>
        </p:nvSpPr>
        <p:spPr>
          <a:xfrm>
            <a:off x="9198864" y="4526280"/>
            <a:ext cx="26517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Blinkit (quick commerce) saw triple-digit GOV growth FY24-FY25 and improved contribution margins, placing it among the top three quick commerce players with Zepto and Swiggy Instamart.</a:t>
            </a:r>
            <a:endParaRPr lang="en-US" dirty="0"/>
          </a:p>
        </p:txBody>
      </p:sp>
      <p:sp>
        <p:nvSpPr>
          <p:cNvPr id="19" name="Text 13"/>
          <p:cNvSpPr/>
          <p:nvPr/>
        </p:nvSpPr>
        <p:spPr>
          <a:xfrm>
            <a:off x="731520" y="8549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STRATEGY EXPANSION | 2026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247120" y="8549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</a:t>
            </a:r>
            <a:endParaRPr lang="en-US" sz="4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4000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Baseline: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383280" y="868680"/>
            <a:ext cx="8321040" cy="246888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566160" y="9784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FY25 WAR CHEST — AVAILABLE CAPITAL (FROM ANNUAL REPORT)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566160" y="13716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Consolidated cash &amp; equivalents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566160" y="18745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₹18,824 Cr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566160" y="237744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of March 2025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566160" y="269748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+₹6,583 Cr YoY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577840" y="13716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QIP proceeds raised (Nov 2024)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577840" y="18745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₹8,500 Cr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577840" y="237744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₹7,630 Cr still unutilized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577840" y="269748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3A5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Earmarked for growth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589520" y="13716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Adj. EBITDA (consolidated)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589520" y="18745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₹1,079 Cr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589520" y="237744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3× YoY improvement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589520" y="269748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cash generation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601200" y="13716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delivery Adj. EBITDA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601200" y="18745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₹1,505 Cr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601200" y="237744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4.6% of NOV; 5.2% in Q4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601200" y="269748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Cross-subsidises expansion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383280" y="3566160"/>
            <a:ext cx="8321040" cy="420624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11880" y="37490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 operating cost structure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11880" y="4343400"/>
            <a:ext cx="2514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cost is 50% lower vs metros — smaller distances, 20% of fleet on bicycles, negligible traffic (Deepinder Goyal, 2019 blog)</a:t>
            </a:r>
            <a:endParaRPr lang="en-US" sz="120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 near zero — Zomato brand recall already strong; organic demand spikes within weeks of launch</a:t>
            </a:r>
            <a:endParaRPr lang="en-US" sz="120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AOV is ~20% lower (₹308-340 vs ₹385 metro NAOV), partially offsetting cost advantage</a:t>
            </a:r>
            <a:endParaRPr lang="en-US" sz="120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result: superior unit economics — contribution margin achievable earlier vs Tier 1 city launch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09360" y="37490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targets &amp; growth levers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4343400"/>
            <a:ext cx="2514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food delivery market projected to reach USD 140 Bn by 2030 (CAGR 28%), with Tier 2/3 identified as next growth frontier</a:t>
            </a:r>
            <a:endParaRPr lang="en-US" sz="120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targets 20%+ YoY NOV growth in food delivery; Tier 3 expansion directly supports this trajectory</a:t>
            </a:r>
            <a:endParaRPr lang="en-US" sz="120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cities hit the 1,000 orders/day milestone within weeks of launch historically — rapid ramp-up observed</a:t>
            </a:r>
            <a:endParaRPr lang="en-US" sz="120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Blinkit (100+ cities) and Hyperpure expansion provide revenue stacking — same city, multiple revenue streams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006840" y="37490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Breakeven timeline framework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006840" y="4343400"/>
            <a:ext cx="2514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delivery: New Tier 3 cities typically reach contribution-positive within 3-6 months given low delivery cost base</a:t>
            </a:r>
            <a:endParaRPr lang="en-US" sz="110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Blinkit dark stores: New stores achieve EBITDA breakeven in 2-3 months (Q3 FY25 earnings call); Tier 3 stores likely slower due to lower basket size</a:t>
            </a:r>
            <a:endParaRPr lang="en-US" sz="110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Blinkit dark store capex: ₹370 Cr for 368 stores (H2 FY25) = ~₹1 Cr per store setup cost; Tier 3 real estate ~40-60% cheaper</a:t>
            </a:r>
            <a:endParaRPr lang="en-US" sz="110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QIP allocation: ₹2,137 Cr earmarked for dark store/warehouse ops; ₹1,956 Cr still undeployed as buffer for Tier 3 push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8549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STRATEGY EXPANSION |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47120" y="8549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18872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Implications: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274320" y="429768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KPIs, Cost Structure, and the Core Insight on Density: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520440" y="1051560"/>
            <a:ext cx="8183880" cy="242316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703320" y="11612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FY25 CONSOLIDATED COST BASE (ANNUAL REPORT)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703320" y="150876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&amp; related charges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703320" y="201168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₹5,728 Cr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703320" y="25146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+46% YoY · biggest cost line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703320" y="29260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~₹67 per order blended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696712" y="150876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&amp; sales promotion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96712" y="201168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₹1,972 Cr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696712" y="25146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+38% YoY · incl. District launch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696712" y="29260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~40% lower needed in T3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690104" y="150876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Blinkit dark store capex (FY25)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690104" y="201168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 Cr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690104" y="25146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store avg (775 new stores)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690104" y="29260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₹0.5-0.7 Cr est. in Tier 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683496" y="150876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delivery contribution margin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683496" y="201168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9.4%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683496" y="25146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NOV in FY25 (up from 8.1%)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683496" y="29260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headroom funds T3 losses</a:t>
            </a:r>
            <a:endParaRPr lang="en-US" sz="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579011935"/>
              </p:ext>
            </p:extLst>
          </p:nvPr>
        </p:nvGraphicFramePr>
        <p:xfrm>
          <a:off x="3520440" y="4160520"/>
          <a:ext cx="8183880" cy="3063240"/>
        </p:xfrm>
        <a:graphic>
          <a:graphicData uri="http://schemas.openxmlformats.org/drawingml/2006/table">
            <a:tbl>
              <a:tblPr/>
              <a:tblGrid>
                <a:gridCol w="2331720"/>
                <a:gridCol w="2926080"/>
                <a:gridCol w="2926080"/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C018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C018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Elements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C018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Implication for Tier 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Structure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Delivery cost, real estate, CAC, store setup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Structurally lower than Tier 1 due to distance, rents, and competition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DD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 Economics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Orders per day, contribution margin, rider utilization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Positive economics once minimum density threshold is crossed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DD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Scalability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Replication speed, capex per city, operating leverage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Highly scalable if micro-markets are built with sufficient order density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DD2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731520" y="8549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STRATEGY EXPANSION | 2026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47120" y="8549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</a:t>
            </a:r>
            <a:endParaRPr lang="en-US" sz="3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411480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sequencing (not demand) is the constraint — phased rollout (50 → 500+ cities) enables scalable profitability.</a:t>
            </a:r>
            <a:endParaRPr lang="en-US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579011935"/>
              </p:ext>
            </p:extLst>
          </p:nvPr>
        </p:nvGraphicFramePr>
        <p:xfrm>
          <a:off x="3931920" y="1371600"/>
          <a:ext cx="7772400" cy="525780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  <a:gridCol w="2468880"/>
              </a:tblGrid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C018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Pillars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C018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Actions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C018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Strategic Impact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6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🧭  Sequenced Entry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Cluster-based rollout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Leverage Hyperpure supply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Lower launch risk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Faster city ramp-up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DD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🔄  Vertical Stack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Food + Blinkit + Hyperpure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Launch together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Dual revenue streams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Stronger partner lock-in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DD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💰  Pricing Strategy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Gold tier ₹99-149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 waivers early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Drive frequency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Lower CAC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DD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🚴  Supply Flywheel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Pre-onboard riders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Guaranteed earnings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Ensure supply at launch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Reduce early churn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DD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8549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STRATEGY EXPANSION | 2026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8549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8404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3246120" y="1280160"/>
            <a:ext cx="8458200" cy="4160520"/>
          </a:xfrm>
          <a:prstGeom prst="rect">
            <a:avLst/>
          </a:prstGeom>
          <a:solidFill>
            <a:srgbClr val="F7F8FA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29000" y="13898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3-year roadmap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429000" y="17556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Phase-gated expansion from pilot to national Tier 3 coverage — FY26 to FY28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429000" y="2148840"/>
            <a:ext cx="2670048" cy="2834640"/>
          </a:xfrm>
          <a:prstGeom prst="rect">
            <a:avLst/>
          </a:prstGeom>
          <a:solidFill>
            <a:srgbClr val="E4EEF7"/>
          </a:solidFill>
          <a:ln/>
        </p:spPr>
      </p:sp>
      <p:sp>
        <p:nvSpPr>
          <p:cNvPr id="7" name="Text 5"/>
          <p:cNvSpPr/>
          <p:nvPr/>
        </p:nvSpPr>
        <p:spPr>
          <a:xfrm>
            <a:off x="3538728" y="2240280"/>
            <a:ext cx="2487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A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PROVE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538728" y="2468880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FY26 (Apr–Mar 2026)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38728" y="2788920"/>
            <a:ext cx="2450592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lnSpc>
                <a:spcPct val="100000"/>
              </a:lnSpc>
              <a:spcAft>
                <a:spcPts val="500"/>
              </a:spcAft>
              <a:buSzPct val="100000"/>
              <a:buChar char="→"/>
            </a:pPr>
            <a:r>
              <a:rPr lang="en-US" sz="8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pilot cities launched: pop. 3L-10L, adjacent to Tier 2 hubs, Hyperpure-active</a:t>
            </a:r>
            <a:endParaRPr lang="en-US" sz="830" dirty="0"/>
          </a:p>
          <a:p>
            <a:pPr marL="152400" indent="-152400" algn="l">
              <a:lnSpc>
                <a:spcPct val="100000"/>
              </a:lnSpc>
              <a:spcAft>
                <a:spcPts val="500"/>
              </a:spcAft>
              <a:buSzPct val="100000"/>
              <a:buChar char="→"/>
            </a:pPr>
            <a:r>
              <a:rPr lang="en-US" sz="8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Blinkit dark store per city; food delivery + Hyperpure co-launched</a:t>
            </a:r>
            <a:endParaRPr lang="en-US" sz="830" dirty="0"/>
          </a:p>
          <a:p>
            <a:pPr marL="152400" indent="-152400" algn="l">
              <a:lnSpc>
                <a:spcPct val="100000"/>
              </a:lnSpc>
              <a:spcAft>
                <a:spcPts val="500"/>
              </a:spcAft>
              <a:buSzPct val="100000"/>
              <a:buChar char="→"/>
            </a:pPr>
            <a:r>
              <a:rPr lang="en-US" sz="8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800 orders/day per city within 90 days of launch</a:t>
            </a:r>
            <a:endParaRPr lang="en-US" sz="830" dirty="0"/>
          </a:p>
          <a:p>
            <a:pPr marL="152400" indent="-152400" algn="l">
              <a:lnSpc>
                <a:spcPct val="100000"/>
              </a:lnSpc>
              <a:spcAft>
                <a:spcPts val="500"/>
              </a:spcAft>
              <a:buSzPct val="100000"/>
              <a:buChar char="→"/>
            </a:pPr>
            <a:r>
              <a:rPr lang="en-US" sz="8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deploy: ₹500-750 Cr from QIP buffer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6172200" y="2148840"/>
            <a:ext cx="2670048" cy="2834640"/>
          </a:xfrm>
          <a:prstGeom prst="rect">
            <a:avLst/>
          </a:prstGeom>
          <a:solidFill>
            <a:srgbClr val="E9F2E2"/>
          </a:solidFill>
          <a:ln/>
        </p:spPr>
      </p:sp>
      <p:sp>
        <p:nvSpPr>
          <p:cNvPr id="11" name="Text 9"/>
          <p:cNvSpPr/>
          <p:nvPr/>
        </p:nvSpPr>
        <p:spPr>
          <a:xfrm>
            <a:off x="6281928" y="2240280"/>
            <a:ext cx="2487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8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SCALE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281928" y="2468880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FY27 (Apr–Mar 2027)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81928" y="2788920"/>
            <a:ext cx="2450592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lnSpc>
                <a:spcPct val="100000"/>
              </a:lnSpc>
              <a:spcAft>
                <a:spcPts val="500"/>
              </a:spcAft>
              <a:buSzPct val="100000"/>
              <a:buChar char="→"/>
            </a:pPr>
            <a:r>
              <a:rPr lang="en-US" sz="8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to 200 cities; add 2nd dark store in Phase 1 cities hitting 1,500+ orders/day</a:t>
            </a:r>
            <a:endParaRPr lang="en-US" sz="830" dirty="0"/>
          </a:p>
          <a:p>
            <a:pPr marL="152400" indent="-152400" algn="l">
              <a:lnSpc>
                <a:spcPct val="100000"/>
              </a:lnSpc>
              <a:spcAft>
                <a:spcPts val="500"/>
              </a:spcAft>
              <a:buSzPct val="100000"/>
              <a:buChar char="→"/>
            </a:pPr>
            <a:r>
              <a:rPr lang="en-US" sz="8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 Tier 3 Gold membership at ₹99-149/month</a:t>
            </a:r>
            <a:endParaRPr lang="en-US" sz="830" dirty="0"/>
          </a:p>
          <a:p>
            <a:pPr marL="152400" indent="-152400" algn="l">
              <a:lnSpc>
                <a:spcPct val="100000"/>
              </a:lnSpc>
              <a:spcAft>
                <a:spcPts val="500"/>
              </a:spcAft>
              <a:buSzPct val="100000"/>
              <a:buChar char="→"/>
            </a:pPr>
            <a:r>
              <a:rPr lang="en-US" sz="8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out ZFE (enterprise food) to Tier 3 industrial clusters</a:t>
            </a:r>
            <a:endParaRPr lang="en-US" sz="830" dirty="0"/>
          </a:p>
          <a:p>
            <a:pPr marL="152400" indent="-152400" algn="l">
              <a:lnSpc>
                <a:spcPct val="100000"/>
              </a:lnSpc>
              <a:spcAft>
                <a:spcPts val="500"/>
              </a:spcAft>
              <a:buSzPct val="100000"/>
              <a:buChar char="→"/>
            </a:pPr>
            <a:r>
              <a:rPr lang="en-US" sz="8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deploy: ₹1,500-2,000 Cr — funded by food delivery EBITDA + QIP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8915400" y="2148840"/>
            <a:ext cx="2670048" cy="2834640"/>
          </a:xfrm>
          <a:prstGeom prst="rect">
            <a:avLst/>
          </a:prstGeom>
          <a:solidFill>
            <a:srgbClr val="F5EEDD"/>
          </a:solidFill>
          <a:ln/>
        </p:spPr>
      </p:sp>
      <p:sp>
        <p:nvSpPr>
          <p:cNvPr id="15" name="Text 13"/>
          <p:cNvSpPr/>
          <p:nvPr/>
        </p:nvSpPr>
        <p:spPr>
          <a:xfrm>
            <a:off x="9025128" y="2240280"/>
            <a:ext cx="2487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08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DOMINATE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025128" y="2468880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FY28 (Apr–Mar 2028)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025128" y="2788920"/>
            <a:ext cx="2450592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lnSpc>
                <a:spcPct val="100000"/>
              </a:lnSpc>
              <a:spcAft>
                <a:spcPts val="500"/>
              </a:spcAft>
              <a:buSzPct val="100000"/>
              <a:buChar char="→"/>
            </a:pPr>
            <a:r>
              <a:rPr lang="en-US" sz="8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 Tier 3 cities operational; Zomato becomes default food OS in non-metro India</a:t>
            </a:r>
            <a:endParaRPr lang="en-US" sz="830" dirty="0"/>
          </a:p>
          <a:p>
            <a:pPr marL="152400" indent="-152400" algn="l">
              <a:lnSpc>
                <a:spcPct val="100000"/>
              </a:lnSpc>
              <a:spcAft>
                <a:spcPts val="500"/>
              </a:spcAft>
              <a:buSzPct val="100000"/>
              <a:buChar char="→"/>
            </a:pPr>
            <a:r>
              <a:rPr lang="en-US" sz="8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Blinkit reaches 500+ Tier 3 dark stores; pull food delivery NAOV toward ₹340-360</a:t>
            </a:r>
            <a:endParaRPr lang="en-US" sz="830" dirty="0"/>
          </a:p>
          <a:p>
            <a:pPr marL="152400" indent="-152400" algn="l">
              <a:lnSpc>
                <a:spcPct val="100000"/>
              </a:lnSpc>
              <a:spcAft>
                <a:spcPts val="500"/>
              </a:spcAft>
              <a:buSzPct val="100000"/>
              <a:buChar char="→"/>
            </a:pPr>
            <a:r>
              <a:rPr lang="en-US" sz="8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 NOV contribution targets 25-30% of total food delivery NOV</a:t>
            </a:r>
            <a:endParaRPr lang="en-US" sz="830" dirty="0"/>
          </a:p>
          <a:p>
            <a:pPr marL="152400" indent="-152400" algn="l">
              <a:lnSpc>
                <a:spcPct val="100000"/>
              </a:lnSpc>
              <a:spcAft>
                <a:spcPts val="500"/>
              </a:spcAft>
              <a:buSzPct val="100000"/>
              <a:buChar char="→"/>
            </a:pPr>
            <a:r>
              <a:rPr lang="en-US" sz="8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deploy: ₹2,500-3,500 Cr — majority self-funded from Tier 3 EBITDA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3246120" y="5623560"/>
            <a:ext cx="8458200" cy="1280160"/>
          </a:xfrm>
          <a:prstGeom prst="rect">
            <a:avLst/>
          </a:prstGeom>
          <a:solidFill>
            <a:srgbClr val="F7F8FA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57150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BY PHASE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29000" y="597103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Orders/day per city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429000" y="61904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 → 1,200 → 2,000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29000" y="651967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→ 2 → 3 threshold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486400" y="597103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Cities live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486400" y="61904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→ 200 → 500+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0" y="651967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FY26 → FY27 → FY28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7543800" y="597103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 contribution margin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543800" y="61904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-2% → 4% → 7%+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543800" y="651967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of Tier 3 NOV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9601200" y="597103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partners onboarded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601200" y="61904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15K → 60K → 150K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601200" y="651967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Tier 3 fleet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731520" y="8549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STRATEGY EXPANSION | 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47120" y="8549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Operational and Market Risks with Mitigation Strategies</a:t>
            </a:r>
            <a:endParaRPr lang="en-US" sz="3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579011935"/>
              </p:ext>
            </p:extLst>
          </p:nvPr>
        </p:nvGraphicFramePr>
        <p:xfrm>
          <a:off x="365760" y="2286000"/>
          <a:ext cx="11338560" cy="4846320"/>
        </p:xfrm>
        <a:graphic>
          <a:graphicData uri="http://schemas.openxmlformats.org/drawingml/2006/table">
            <a:tbl>
              <a:tblPr/>
              <a:tblGrid>
                <a:gridCol w="2011680"/>
                <a:gridCol w="2651760"/>
                <a:gridCol w="1463040"/>
                <a:gridCol w="1280160"/>
                <a:gridCol w="3931920"/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B01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8B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B01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Details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8B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B01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Likelihood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8B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B01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8B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B01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Mitigation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8BE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order density at launch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8A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Idle delivery partners, higher per-order costs, attrition before reaching ~800 orders/day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0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8A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0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Guaranteed payouts, scheduled orders, corporate ZFE co-launch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8A93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Competition from Swiggy + ONDC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8A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 2/3 expansion and zero-commission models attracting restaurant partners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0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8A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0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Hyperpure contracts, commission holidays, multi-vertical moat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8A93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Lower AOV compressing economics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8A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₹308-320 AOV vs ₹385 in metros, thinner margins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0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8A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0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Upselling, combo deals, Blinkit basket blending, phased fee increase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8A93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Macro / inflationary pressure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8A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Lower discretionary spending capacity in Tier 3 consumers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0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8A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0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Affordable subscriptions, Food Rescue, essential goods supply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8A93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8549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STRATEGY EXPANSION | 2026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247120" y="8549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and next steps: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20116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aggressive is the right call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3200400"/>
            <a:ext cx="5394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just">
              <a:lnSpc>
                <a:spcPct val="105000"/>
              </a:lnSpc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₹18,824 Cr cash with ₹7,630 Cr of undeployed QIP capital — Zomato has never been better capitalised to fund a land-grab before Swiggy consolidates Tier 3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2920" y="4526280"/>
            <a:ext cx="5394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just">
              <a:lnSpc>
                <a:spcPct val="105000"/>
              </a:lnSpc>
              <a:buSzPct val="100000"/>
              <a:buChar char="•"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cost advantage is real: </a:t>
            </a: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 lower last-mile delivery cost, 70% lower CAC, 40-60% cheaper dark store real estate vs metro — the unit economics case is already made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2920" y="5806440"/>
            <a:ext cx="5394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just">
              <a:lnSpc>
                <a:spcPct val="105000"/>
              </a:lnSpc>
              <a:buSzPct val="100000"/>
              <a:buChar char="•"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First-mover advantage is time-bound: </a:t>
            </a: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Swiggy and ONDC are both actively Tier 2/3 — every quarter of delay narrows Zomato’s window to own non-metro restaurant partner relationships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09360" y="20116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phasing still matters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17920" y="306324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just">
              <a:lnSpc>
                <a:spcPct val="105000"/>
              </a:lnSpc>
              <a:buSzPct val="100000"/>
              <a:buChar char="•"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density risk is the only genuine constraint </a:t>
            </a: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launching too many cities simultaneously creates thin books everywhere, not critical mass anywhere; 50-city Phase 1 avoids this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17920" y="448056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just">
              <a:lnSpc>
                <a:spcPct val="105000"/>
              </a:lnSpc>
              <a:buSzPct val="100000"/>
              <a:buChar char="•"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 supply precedes demand </a:t>
            </a: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Hyperpure-first sequencing principle must be non-negotiable; cities without active restaurant partners produce poor customer experience that poisons the brand permanently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17920" y="589788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just">
              <a:lnSpc>
                <a:spcPct val="105000"/>
              </a:lnSpc>
              <a:buSzPct val="100000"/>
              <a:buChar char="•"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Blinkit EBITDA is still negative (-₹292 Cr, FY25) </a:t>
            </a: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quick commerce losses place a ceiling on how fast Tier 3 dark store capex can be deployed without risking consolidated EBITDA trajectory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31520" y="8549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STRATEGY EXPANSION |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47120" y="8549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2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next steps: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0" y="868680"/>
            <a:ext cx="717804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does not have a capital problem, a cost problem, or a brand problem in Tier 3. It has an execution sequencing problem. The recommendation is to launch 50 cities in FY26 with full vertical stacking (food delivery + Blinkit + Hyperpure), prove the model, and scale to 500+ cities by FY28. The cost of inaction ceding Tier 3 restaurant relationships to Swiggy is far greater than the cost of a phased aggressive push.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0" y="3611880"/>
            <a:ext cx="12191695" cy="448056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8862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A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2920" y="438912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selection framework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2920" y="5074920"/>
            <a:ext cx="2697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scoring model (population, Hyperpure coverage, distance from Tier 2 hub, restaurant density) and rank top 50 Phase 1 cities. Output: a priority list by 30 days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364992" y="38862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A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64992" y="438912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partner pre-reg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64992" y="5074920"/>
            <a:ext cx="2697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Tier 3 partner recruitment in top 50 cities now — 90-day guaranteed minimum earnings programme to be structured and approved within 45 days of city list finalisation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27064" y="38862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A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27064" y="438912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Blinkit site scouting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27064" y="5074920"/>
            <a:ext cx="2697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2,000-3,000 sqft commercial properties in each Phase 1 city. Real estate team to execute lease agreements for 50 dark stores within 60 days of go-decision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089136" y="38862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A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089136" y="438912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capital allocation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089136" y="5074920"/>
            <a:ext cx="2697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Seek board approval to earmark ₹500-750 Cr from undeployed QIP proceeds for Phase 1 Tier 3 expansion. Present 18-month breakeven model and city-level P&amp;L template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31520" y="8549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STRATEGY EXPANSION |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8549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88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4822874" cy="2164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 smtClean="0">
                <a:solidFill>
                  <a:schemeClr val="bg1"/>
                </a:solidFill>
                <a:hlinkClick r:id="rId3"/>
              </a:rPr>
              <a:t>India's food delivery sector</a:t>
            </a:r>
            <a:endParaRPr lang="en-US" sz="2000" dirty="0" smtClean="0">
              <a:solidFill>
                <a:schemeClr val="bg1"/>
              </a:solidFill>
            </a:endParaRPr>
          </a:p>
          <a:p>
            <a:pPr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 smtClean="0">
                <a:solidFill>
                  <a:schemeClr val="bg1"/>
                </a:solidFill>
                <a:hlinkClick r:id="rId4"/>
              </a:rPr>
              <a:t>Eternal_Annual_Report_2024-25</a:t>
            </a:r>
            <a:endParaRPr lang="en-US" sz="2000" dirty="0" smtClean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8549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STRATEGY EXPANSION |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8549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  <p:pic>
        <p:nvPicPr>
          <p:cNvPr id="6" name="Picture 5" descr="1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0707" y="2560320"/>
            <a:ext cx="6075066" cy="340203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ownload (2)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726788"/>
            <a:ext cx="5451231" cy="3052690"/>
          </a:xfrm>
          <a:prstGeom prst="rect">
            <a:avLst/>
          </a:prstGeom>
        </p:spPr>
      </p:pic>
      <p:pic>
        <p:nvPicPr>
          <p:cNvPr id="5" name="Picture 4" descr="download (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51231" cy="2726788"/>
          </a:xfrm>
          <a:prstGeom prst="rect">
            <a:avLst/>
          </a:prstGeom>
        </p:spPr>
      </p:pic>
      <p:pic>
        <p:nvPicPr>
          <p:cNvPr id="6" name="Picture 5" descr="download (2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5779478"/>
            <a:ext cx="5451232" cy="336452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53908" y="2726788"/>
            <a:ext cx="538089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 smtClean="0">
                <a:solidFill>
                  <a:schemeClr val="bg1"/>
                </a:solidFill>
                <a:latin typeface="Bahnschrift SemiBold" pitchFamily="34" charset="0"/>
              </a:rPr>
              <a:t>THANK YOU</a:t>
            </a:r>
            <a:endParaRPr lang="en-US" sz="8800" dirty="0">
              <a:solidFill>
                <a:schemeClr val="bg1"/>
              </a:solidFill>
              <a:latin typeface="Bahnschrift SemiBold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2383</Words>
  <Application>Microsoft Office PowerPoint</Application>
  <PresentationFormat>Custom</PresentationFormat>
  <Paragraphs>391</Paragraphs>
  <Slides>16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HP</cp:lastModifiedBy>
  <cp:revision>18</cp:revision>
  <dcterms:created xsi:type="dcterms:W3CDTF">2026-06-23T14:03:08Z</dcterms:created>
  <dcterms:modified xsi:type="dcterms:W3CDTF">2026-06-24T03:08:38Z</dcterms:modified>
</cp:coreProperties>
</file>